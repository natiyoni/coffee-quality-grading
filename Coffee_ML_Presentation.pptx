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presentation covers the full suite of ML models built to automate and standardize coffee quality assessment. We have 5 models spanning regression, computer vision, and 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agenda overview. Six sections. We'll move through each model's purpose, architecture, training, and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dataset context. CQI = Coffee Quality Institute. Images sourced from Kaggle. The regression model uses the 207-row CQI dataset; both CNNs use image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distribution is fairly normal. Important to note — every sample scores above specialty grade (80+). Ethiopia is in the top tier globally.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1 is about predicting the numeric quality score from cupping sub-scores. This is a regression task. We tested two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heatmap clearly shows the sensory sub-scores are highly inter-correlated and strongly correlated with TCP. This near-linear structure is why Linear Regression ends up outperforming XGBoost.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wins here because the cupping score structure is inherently additive. XGBoost can't find non-linearities that help more than the linear signal, and overfits with only 207 rows. SHAP on the right shows Aftertaste and Flavor dominate.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2 switches to computer vision — classifying roast level from a bean photo. Four classes: Dark, Green (unroasted), Light, Medium.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converges incredibly fast — 97.75% val accuracy by Epoch 1 — because ImageNet features transfer very well to coffee bean images. Peak of 100% at Epoch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Near-perfect. Only 2 misclassifications out of 400. Both were boundary cases between adjacent roast levels (Dark and Light confused with Medium). Completely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hardest model — 9 classes with significant class imbalance. This maps directly to SCA primary and secondary defect grading.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classes is significantly harder. Class imbalance is the key challenge — sour has only 3 test samples. The model uses Dropout to regularize and EarlyStopping to prevent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story here is class imbalance. Classes with 20–31 samples perform great. Classes with 3–7 samples struggle — sour gets 0% because we only have 3 test samples. More data collection is the top priority.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clustering reveals natural groupings in the sensory space — useful for market segmentation and blending.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clusters give a clean separation. Cluster 0 is the premium tier — high on all dimensions. Cluster 3 is still specialty grade but on the lower end. Useful for pricing strategy and blending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Ethiopia-specific deep-dive. We apply the trained regression model to score and compare Ethiopian regional coffees.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Guji comes out on top, consistent with its market reputation for floral, fruit-forward profiles. The tight predicted-vs-actual scatter confirms the model generalizes well to Ethiopian coffees specifically.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summary. Three models are production-ready now. The XGBoost scorer would benefit from more data, and the defect detector needs more samples for low-support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about limitations. The core constraint is data — more samples will unlock better performance for XGBoost and the defect detector. The architecture choices are solid.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Summarize: 5 models, 3 production-ready, clear roadmap.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C1503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5C2D0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5486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914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QUALITY INTELLIGENCE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14173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Coffee Grading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quality · Classifying roast levels · Detecting defects · Segmenting flavors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48640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Cupping Records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1481328"/>
            <a:ext cx="2926080" cy="13716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548640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5486400" y="20848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2395728"/>
            <a:ext cx="2926080" cy="13716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0" y="25603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5486400" y="2999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Accuracy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0" y="3310128"/>
            <a:ext cx="2926080" cy="13716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0" y="3474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5486400" y="39136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Accuracy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 |  Ethiopian Coffee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9047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2416" y="1362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42416" y="1691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motivation &amp; exploratory analysis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77640" y="13258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800600" y="123444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4904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7256" y="1362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— Quality Scorer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77256" y="1691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XGBoost on sensory scores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412480" y="132588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365760" y="2350008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606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42416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— Roast Classifier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42416" y="2807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· 4 roast levels · 99.5% accuracy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977640" y="24414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4800600" y="2350008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6060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77256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— Defect Detector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77256" y="280720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· 9 defect classes · 87% accuracy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412480" y="24414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365760" y="3465576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2160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42416" y="3593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Clustering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042416" y="3922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unsupervised segmentation into 4 profiles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977640" y="35570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4800600" y="3465576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721608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477256" y="35935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Focus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5477256" y="3922776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quality benchmarking for top Ethiopian origins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412480" y="3557016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— Dataset &amp; Motivation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16459"/>
          </a:xfrm>
          <a:prstGeom prst="rect">
            <a:avLst/>
          </a:prstGeom>
          <a:solidFill>
            <a:srgbClr val="A0522D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datasets power our five models: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CQI Cupping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78608"/>
            <a:ext cx="1965960" cy="13716"/>
          </a:xfrm>
          <a:prstGeom prst="rect">
            <a:avLst/>
          </a:prstGeom>
          <a:solidFill>
            <a:srgbClr val="C8956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93776" y="2633472"/>
            <a:ext cx="2441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sensory features · Ethiopian &amp; global origins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Total Cup Points (78–89.3, mean 83.71)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508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1762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Level Images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2578608"/>
            <a:ext cx="1965960" cy="13716"/>
          </a:xfrm>
          <a:prstGeom prst="rect">
            <a:avLst/>
          </a:prstGeom>
          <a:solidFill>
            <a:srgbClr val="C8956A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2633472"/>
            <a:ext cx="2441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px · 4 classes: Dark, Green, Light, Medium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train · 400 validation/test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97480" cy="3200400"/>
          </a:xfrm>
          <a:prstGeom prst="roundRect">
            <a:avLst>
              <a:gd name="adj" fmla="val 339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5087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1,260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26480" y="217627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Images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2578608"/>
            <a:ext cx="1965960" cy="13716"/>
          </a:xfrm>
          <a:prstGeom prst="rect">
            <a:avLst/>
          </a:prstGeom>
          <a:solidFill>
            <a:srgbClr val="C8956A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2633472"/>
            <a:ext cx="24414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px · 9 defect categories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1,005 train · 123 val · 132 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ML? Manual cupping is subjective, time-consuming, and hard to scale. These models bring consistency and speed to specialty coffee grading.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— Score Distribution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Cup Points range 78–89.3, mean 83.71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pic>
        <p:nvPicPr>
          <p:cNvPr id="6" name="Image 0" descr="/mnt/user-data/uploads/1782071958511_scor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4297680" cy="2286000"/>
          </a:xfrm>
          <a:prstGeom prst="rect">
            <a:avLst/>
          </a:prstGeom>
        </p:spPr>
      </p:pic>
      <p:pic>
        <p:nvPicPr>
          <p:cNvPr id="7" name="Image 1" descr="/mnt/user-data/uploads/1782071958507_score_by_coun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29768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547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663440" y="354787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by Country (Top 15)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20040" y="3822192"/>
            <a:ext cx="854964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29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02920" y="4160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Bell-shaped distribution centered at 83–84 pts — typical specialty range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and Ethiopia lead on median score; Colombia shows widest variance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samples exceed the 80-point SCA Specialty Grade threshold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50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 Quality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Scorer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&amp; XGBoost on 13 sensory features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Total Cup Points (R² = 0.994)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Feature Correlation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pic>
        <p:nvPicPr>
          <p:cNvPr id="5" name="Image 0" descr="/mnt/user-data/uploads/1782071958498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484632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492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Predictors of Total Cup Points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349240" y="157276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0.94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349240" y="2048256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532120" y="2103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Aftertaste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0.93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49240" y="2523744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53212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78040" y="2578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0.93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349240" y="2999232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532120" y="30540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78040" y="30540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0.87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349240" y="3474720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32120" y="3529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Acidity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78040" y="3529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49240" y="3950208"/>
            <a:ext cx="356616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532120" y="4005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178040" y="4005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0.85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349240" y="4507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Uniformity, Clean Cup &amp; Sweetness show near-zero variance — minimal predictive value.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Results: Linear Regression vs XGBoost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5029200" cy="219456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(Tuned)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0.128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R²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 ± 0.007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 ± 0.015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mnt/user-data/uploads/1782071958512_shap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234440"/>
            <a:ext cx="347472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0680" y="4160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Feature Importance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0040" y="3493008"/>
            <a:ext cx="502920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0"/>
            <a:ext cx="411480" cy="411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35661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Model: Linear Regression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005840" y="3858768"/>
            <a:ext cx="4160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generalization (Test R² 0.994), near-zero error (RMSE 0.128), and full interpretability. XGBoost overfits on this small dataset.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Roast Level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· 4 Classes · 1,600 Images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99.5%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Architecture &amp; Training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+ custom head · Adam · Categorical Cross-Entropy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344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5C2D0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 frozen)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57400" y="1591056"/>
            <a:ext cx="228600" cy="16459"/>
          </a:xfrm>
          <a:prstGeom prst="rect">
            <a:avLst/>
          </a:prstGeom>
          <a:solidFill>
            <a:srgbClr val="D4893A"/>
          </a:solidFill>
          <a:ln/>
        </p:spPr>
      </p:sp>
      <p:sp>
        <p:nvSpPr>
          <p:cNvPr id="9" name="Text 7"/>
          <p:cNvSpPr/>
          <p:nvPr/>
        </p:nvSpPr>
        <p:spPr>
          <a:xfrm>
            <a:off x="2039112" y="144475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12344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5C2D0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Pooling2D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23360" y="1591056"/>
            <a:ext cx="228600" cy="16459"/>
          </a:xfrm>
          <a:prstGeom prst="rect">
            <a:avLst/>
          </a:prstGeom>
          <a:solidFill>
            <a:srgbClr val="D4893A"/>
          </a:solidFill>
          <a:ln/>
        </p:spPr>
      </p:sp>
      <p:sp>
        <p:nvSpPr>
          <p:cNvPr id="13" name="Text 11"/>
          <p:cNvSpPr/>
          <p:nvPr/>
        </p:nvSpPr>
        <p:spPr>
          <a:xfrm>
            <a:off x="4005072" y="144475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51960" y="12344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5C2D0A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89320" y="1591056"/>
            <a:ext cx="228600" cy="16459"/>
          </a:xfrm>
          <a:prstGeom prst="rect">
            <a:avLst/>
          </a:prstGeom>
          <a:solidFill>
            <a:srgbClr val="D4893A"/>
          </a:solidFill>
          <a:ln/>
        </p:spPr>
      </p:sp>
      <p:sp>
        <p:nvSpPr>
          <p:cNvPr id="17" name="Text 15"/>
          <p:cNvSpPr/>
          <p:nvPr/>
        </p:nvSpPr>
        <p:spPr>
          <a:xfrm>
            <a:off x="5971032" y="1444752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12344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5C2D0A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344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Dense(4)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</p:txBody>
      </p:sp>
      <p:pic>
        <p:nvPicPr>
          <p:cNvPr id="20" name="Image 0" descr="/mnt/user-data/uploads/1782071958506_roast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148840"/>
            <a:ext cx="5029200" cy="2651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20040" y="481888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 over 10 Epochs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32120" y="2148840"/>
            <a:ext cx="33832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7150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Specs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images: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6692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/ Test images: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669280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315200" y="3264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6928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315200" y="3602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0" y="39410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Accuracy: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7315200" y="39410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(Epoch 8)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669280" y="4279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Accuracy: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315200" y="4279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99.50%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692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Loss: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15200" y="4617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0.0174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Classification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5029200" cy="2286000"/>
        </p:xfrm>
        <a:graphic>
          <a:graphicData uri="http://schemas.openxmlformats.org/drawingml/2006/table">
            <a:tbl>
              <a:tblPr/>
              <a:tblGrid>
                <a:gridCol w="1188720"/>
                <a:gridCol w="960120"/>
                <a:gridCol w="960120"/>
                <a:gridCol w="960120"/>
                <a:gridCol w="96012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3444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669280" y="1325880"/>
            <a:ext cx="150876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5669280" y="2053742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2434133"/>
            <a:ext cx="15087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images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406640" y="12344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1325880"/>
            <a:ext cx="13716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498080" y="2053742"/>
            <a:ext cx="13716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498080" y="2434133"/>
            <a:ext cx="137160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77840" y="2834640"/>
            <a:ext cx="1691640" cy="1463040"/>
          </a:xfrm>
          <a:prstGeom prst="roundRect">
            <a:avLst>
              <a:gd name="adj" fmla="val 500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2926080"/>
            <a:ext cx="150876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2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5669280" y="3653942"/>
            <a:ext cx="150876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0" y="4034333"/>
            <a:ext cx="1508760" cy="26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400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06640" y="2834640"/>
            <a:ext cx="1554480" cy="1463040"/>
          </a:xfrm>
          <a:prstGeom prst="roundRect">
            <a:avLst>
              <a:gd name="adj" fmla="val 500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98080" y="2926080"/>
            <a:ext cx="1371600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0.0174</a:t>
            </a:r>
            <a:endParaRPr lang="en-US" sz="3800" dirty="0"/>
          </a:p>
        </p:txBody>
      </p:sp>
      <p:sp>
        <p:nvSpPr>
          <p:cNvPr id="20" name="Text 17"/>
          <p:cNvSpPr/>
          <p:nvPr/>
        </p:nvSpPr>
        <p:spPr>
          <a:xfrm>
            <a:off x="7498080" y="3653942"/>
            <a:ext cx="1371600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 Loss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040" y="361188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" y="3675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Summary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02920" y="3986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Dark→Medium  |  1 Light→Medium  |  </a:t>
            </a:r>
            <a:pPr indent="0" marL="0">
              <a:buNone/>
            </a:pPr>
            <a:r>
              <a:rPr lang="en-US" sz="1100" b="1" dirty="0">
                <a:solidFill>
                  <a:srgbClr val="3D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398 / 400 perfectly classified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02920" y="42976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production-ready for automated visual roast grading.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· 9 Defect Classes · 1,260 Images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87% · Deployed with EarlyStopping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— Defect Classes &amp; Training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9-class CNN · MobileNetV2 + Dropout(0.3) · EarlyStopping (patience=5)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344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29768" y="1563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Fermentation/drying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344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24328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24328" y="1563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Fractured beans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298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18888" y="156362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Non-coffee matter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" y="2121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fraghusk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" y="2386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 fragments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205740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24328" y="2121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24328" y="2386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Unripe/underdeveloped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05740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18888" y="2121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18888" y="23865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Dried fruit skin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8803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immature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9768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 underdeveloped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14600" y="28803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2432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infested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24328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Insect damage (CBB)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80360"/>
            <a:ext cx="20574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18888" y="2944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18888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Fermented/discolored</a:t>
            </a:r>
            <a:endParaRPr lang="en-US" sz="1000" dirty="0"/>
          </a:p>
        </p:txBody>
      </p:sp>
      <p:pic>
        <p:nvPicPr>
          <p:cNvPr id="33" name="Image 0" descr="/mnt/user-data/uploads/1782071958499_defect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234440"/>
            <a:ext cx="2423160" cy="237744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537960" y="363016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(16 epochs)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537960" y="3858768"/>
            <a:ext cx="2423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629400" y="39319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629400" y="42062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85.37% at Epoch 11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6629400" y="4462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Accuracy: 87%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— Classification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5577840" cy="3657600"/>
        </p:xfrm>
        <a:graphic>
          <a:graphicData uri="http://schemas.openxmlformats.org/drawingml/2006/table">
            <a:tbl>
              <a:tblPr/>
              <a:tblGrid>
                <a:gridCol w="1234440"/>
                <a:gridCol w="1051560"/>
                <a:gridCol w="1051560"/>
                <a:gridCol w="914400"/>
                <a:gridCol w="1325880"/>
              </a:tblGrid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fraghusk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infested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0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E0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2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2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2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2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C2D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0D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2344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08" y="138988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56832" y="1353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classes (F1 ≥ 0.85)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656832" y="162763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broken, foreign, fraghusk, infested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high-support classes perform well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080760" y="260604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276148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56832" y="27249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Low-support classes (⚠)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656832" y="2999232"/>
            <a:ext cx="2148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husk, immature, sour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more training samples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080760" y="39776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263640" y="40599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63640" y="43342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 weighted F1: 0.86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Flavor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segmentation into 4 distinct flavor profiles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· Flavor · Acidity · Body · Balance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4 Flavor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confirmed k=4 · Final inertia: 20.88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pic>
        <p:nvPicPr>
          <p:cNvPr id="6" name="Image 0" descr="/mnt/user-data/uploads/1782071958505_kmeans_elb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3108960" cy="2011680"/>
          </a:xfrm>
          <a:prstGeom prst="rect">
            <a:avLst/>
          </a:prstGeom>
        </p:spPr>
      </p:pic>
      <p:pic>
        <p:nvPicPr>
          <p:cNvPr id="7" name="Image 1" descr="/mnt/user-data/uploads/1782071958504_kmeans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188720"/>
            <a:ext cx="3840480" cy="2560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32186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→ k=4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3566160" y="37673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vs Acidity (colored by cluster)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20040" y="402336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48056" y="40599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 — Bright &amp; Floral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48056" y="42611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8.17 · Flavor 8.19 · Highest quality tier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931920" y="402336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059936" y="405993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 — Earthy &amp; Full-bodied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059936" y="426110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7.64 · Flavor 7.67 · Rich bold profiles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0040" y="452628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48056" y="45628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 — Balanced &amp; Sweet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48056" y="476402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7.89 · Flavor 7.92 · Mid-range balanced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931920" y="4526280"/>
            <a:ext cx="34290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059936" y="4562856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3 — Mild &amp; Neutral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059936" y="476402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Aroma 7.35 · Flavor 7.35 · Entry-level specialty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D4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FOCUS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150876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Quality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3063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quality scorer to Ethiopian origins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Guji · OROMIA · Sidama · and more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Ethiopian Coffee — Regional Quality Analysis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" y="7680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exceed SCA Specialty Grade threshold (80 pts)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pic>
        <p:nvPicPr>
          <p:cNvPr id="6" name="Image 0" descr="/mnt/user-data/uploads/1782071958503_ethiopia_region_sc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0"/>
            <a:ext cx="4206240" cy="2240280"/>
          </a:xfrm>
          <a:prstGeom prst="rect">
            <a:avLst/>
          </a:prstGeom>
        </p:spPr>
      </p:pic>
      <p:pic>
        <p:nvPicPr>
          <p:cNvPr id="7" name="Image 1" descr="/mnt/user-data/uploads/1782071958502_ethiopia_region_sample_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251960" cy="1828800"/>
          </a:xfrm>
          <a:prstGeom prst="rect">
            <a:avLst/>
          </a:prstGeom>
        </p:spPr>
      </p:pic>
      <p:pic>
        <p:nvPicPr>
          <p:cNvPr id="8" name="Image 2" descr="/mnt/user-data/uploads/1782071958500_ethiopia_predicted_vs_actu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127248"/>
            <a:ext cx="4251960" cy="1828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344728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Predicted Score by Region</a:t>
            </a:r>
            <a:endParaRPr lang="en-US" sz="950" dirty="0"/>
          </a:p>
        </p:txBody>
      </p:sp>
      <p:sp>
        <p:nvSpPr>
          <p:cNvPr id="10" name="Text 5"/>
          <p:cNvSpPr/>
          <p:nvPr/>
        </p:nvSpPr>
        <p:spPr>
          <a:xfrm>
            <a:off x="4663440" y="303580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Region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4663440" y="4956048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6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Score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320040" y="3703320"/>
            <a:ext cx="420624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502920" y="3767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Findings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502920" y="4041648"/>
            <a:ext cx="38404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Guji leads with highest avg predicted score (~86 pts)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major regions comfortably above 80-pt specialty threshold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Actual shows excellent model alignment for Ethiopian lots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— All Models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34440"/>
          <a:ext cx="850392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691640"/>
                <a:gridCol w="2011680"/>
                <a:gridCol w="1600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0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Scorer (LR)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Cup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0.994, RMSE 0.128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Production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Scorer (XGB)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Cup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0.960, RMSE 0.341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5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more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Roast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(4-class)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Roast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Production Ready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 Detector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(9-class)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Classify Bean Defect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052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minority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Flavor Clustering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clean clusters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D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Deployed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CC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2519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34340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 5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11480" y="4636008"/>
            <a:ext cx="2468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Models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54680" y="42519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46120" y="434340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246120" y="4636008"/>
            <a:ext cx="2468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Classification Accuracy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46120" y="4814316"/>
            <a:ext cx="24688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Classifier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425196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5C2D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80760" y="4343400"/>
            <a:ext cx="2468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080760" y="4636008"/>
            <a:ext cx="24688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Regression R²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80760" y="4814316"/>
            <a:ext cx="246888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347472"/>
            <a:ext cx="118872" cy="118872"/>
          </a:xfrm>
          <a:prstGeom prst="oval">
            <a:avLst/>
          </a:prstGeom>
          <a:solidFill>
            <a:srgbClr val="D4893A"/>
          </a:solidFill>
          <a:ln/>
        </p:spPr>
      </p:sp>
      <p:sp>
        <p:nvSpPr>
          <p:cNvPr id="3" name="Text 1"/>
          <p:cNvSpPr/>
          <p:nvPr/>
        </p:nvSpPr>
        <p:spPr>
          <a:xfrm>
            <a:off x="530352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Recommended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6459"/>
          </a:xfrm>
          <a:prstGeom prst="rect">
            <a:avLst/>
          </a:prstGeom>
          <a:solidFill>
            <a:srgbClr val="A0522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Current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636776"/>
            <a:ext cx="3840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207 cupping samples — XGBoost overfits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minority classes (sour, immature) have &lt;5 test samples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regional analysis: 1–2 samples per region only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 is frozen — fine-tuning could help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3752" y="1362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Short-Term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73752" y="1636776"/>
            <a:ext cx="384048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100+ images per low-support defect class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MobileNetV2 top layers for both image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LR + XGBoost via stacking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processing method as a regression feature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Medium-Term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3648456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Ethiopian dataset: 20+ samples per region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SHAP dashboard for quality explanation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altitude and harvest year as model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24612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73752" y="3374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Long-Term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3648456"/>
            <a:ext cx="38404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pipeline: images + sensory scores combined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REST API for cupping lab software integration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as new cupping data accumulates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150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150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E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8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Quality Intelligence — ML Project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8412480" cy="16459"/>
          </a:xfrm>
          <a:prstGeom prst="rect">
            <a:avLst/>
          </a:prstGeom>
          <a:solidFill>
            <a:srgbClr val="A0522D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9748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69748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Acc.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634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Acc.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89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6294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Clusters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8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Quality Intelligence — ML Presentation</dc:title>
  <dc:subject>PptxGenJS Presentation</dc:subject>
  <dc:creator>PptxGenJS</dc:creator>
  <cp:lastModifiedBy>PptxGenJS</cp:lastModifiedBy>
  <cp:revision>1</cp:revision>
  <dcterms:created xsi:type="dcterms:W3CDTF">2026-06-21T20:13:28Z</dcterms:created>
  <dcterms:modified xsi:type="dcterms:W3CDTF">2026-06-21T20:13:28Z</dcterms:modified>
</cp:coreProperties>
</file>